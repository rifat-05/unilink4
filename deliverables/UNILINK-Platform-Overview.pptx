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2805d3ad1e45e6" /><Relationship Type="http://schemas.openxmlformats.org/officeDocument/2006/relationships/extended-properties" Target="/docProps/app.xml" Id="R515d677bc22c413f" /><Relationship Type="http://schemas.openxmlformats.org/officeDocument/2006/relationships/officeDocument" Target="/ppt/presentation.xml" Id="R3996865ce05447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390ed205af4a57"/>
  </p:sldMasterIdLst>
  <p:notesMasterIdLst>
    <p:notesMasterId xmlns:r="http://schemas.openxmlformats.org/officeDocument/2006/relationships" r:id="R99de25e9b94343d1"/>
  </p:notesMasterIdLst>
  <p:sldIdLst>
    <p:sldId xmlns:r="http://schemas.openxmlformats.org/officeDocument/2006/relationships" id="256" r:id="R853f284f8bea4f08"/>
    <p:sldId xmlns:r="http://schemas.openxmlformats.org/officeDocument/2006/relationships" id="257" r:id="R7dd3713e587c429e"/>
    <p:sldId xmlns:r="http://schemas.openxmlformats.org/officeDocument/2006/relationships" id="258" r:id="Reabf9c72e12b4090"/>
    <p:sldId xmlns:r="http://schemas.openxmlformats.org/officeDocument/2006/relationships" id="259" r:id="R2b3f6f4c0fe7401a"/>
    <p:sldId xmlns:r="http://schemas.openxmlformats.org/officeDocument/2006/relationships" id="260" r:id="R218fa1f3beb54807"/>
    <p:sldId xmlns:r="http://schemas.openxmlformats.org/officeDocument/2006/relationships" id="261" r:id="Rdafd8dd1354c4e70"/>
    <p:sldId xmlns:r="http://schemas.openxmlformats.org/officeDocument/2006/relationships" id="262" r:id="R35cf7f5d6d3e45d3"/>
    <p:sldId xmlns:r="http://schemas.openxmlformats.org/officeDocument/2006/relationships" id="263" r:id="R2a0fd92e0f5c45bb"/>
    <p:sldId xmlns:r="http://schemas.openxmlformats.org/officeDocument/2006/relationships" id="264" r:id="R4950c7f088944163"/>
    <p:sldId xmlns:r="http://schemas.openxmlformats.org/officeDocument/2006/relationships" id="265" r:id="R7341d8454af643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afc4ba6c424037" /><Relationship Type="http://schemas.openxmlformats.org/officeDocument/2006/relationships/slideMaster" Target="/ppt/slideMasters/slideMaster1.xml" Id="R2a390ed205af4a57" /><Relationship Type="http://schemas.openxmlformats.org/officeDocument/2006/relationships/notesMaster" Target="/ppt/notesMasters/notesMaster1.xml" Id="R99de25e9b94343d1" /><Relationship Type="http://schemas.openxmlformats.org/officeDocument/2006/relationships/presProps" Target="/ppt/presProps.xml" Id="Rd709c69137d545ca" /><Relationship Type="http://schemas.openxmlformats.org/officeDocument/2006/relationships/tableStyles" Target="/ppt/tableStyles.xml" Id="R4a65366d9bed4bab" /><Relationship Type="http://schemas.openxmlformats.org/officeDocument/2006/relationships/slide" Target="/ppt/slides/slide1.xml" Id="R853f284f8bea4f08" /><Relationship Type="http://schemas.openxmlformats.org/officeDocument/2006/relationships/slide" Target="/ppt/slides/slide2.xml" Id="R7dd3713e587c429e" /><Relationship Type="http://schemas.openxmlformats.org/officeDocument/2006/relationships/slide" Target="/ppt/slides/slide3.xml" Id="Reabf9c72e12b4090" /><Relationship Type="http://schemas.openxmlformats.org/officeDocument/2006/relationships/slide" Target="/ppt/slides/slide4.xml" Id="R2b3f6f4c0fe7401a" /><Relationship Type="http://schemas.openxmlformats.org/officeDocument/2006/relationships/slide" Target="/ppt/slides/slide5.xml" Id="R218fa1f3beb54807" /><Relationship Type="http://schemas.openxmlformats.org/officeDocument/2006/relationships/slide" Target="/ppt/slides/slide6.xml" Id="Rdafd8dd1354c4e70" /><Relationship Type="http://schemas.openxmlformats.org/officeDocument/2006/relationships/slide" Target="/ppt/slides/slide7.xml" Id="R35cf7f5d6d3e45d3" /><Relationship Type="http://schemas.openxmlformats.org/officeDocument/2006/relationships/slide" Target="/ppt/slides/slide8.xml" Id="R2a0fd92e0f5c45bb" /><Relationship Type="http://schemas.openxmlformats.org/officeDocument/2006/relationships/slide" Target="/ppt/slides/slide9.xml" Id="R4950c7f088944163" /><Relationship Type="http://schemas.openxmlformats.org/officeDocument/2006/relationships/slide" Target="/ppt/slides/slide10.xml" Id="R7341d8454af643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b785dda3a945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e4ecdc7e2341e8" /><Relationship Type="http://schemas.openxmlformats.org/officeDocument/2006/relationships/notesMaster" Target="/ppt/notesMasters/notesMaster1.xml" Id="R87e57891b4ea46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98c786f3ed466c" /><Relationship Type="http://schemas.openxmlformats.org/officeDocument/2006/relationships/notesMaster" Target="/ppt/notesMasters/notesMaster1.xml" Id="R3302b7f9820742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e6896736b34bac" /><Relationship Type="http://schemas.openxmlformats.org/officeDocument/2006/relationships/notesMaster" Target="/ppt/notesMasters/notesMaster1.xml" Id="R42ffc091eebf45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1d41e248c54834" /><Relationship Type="http://schemas.openxmlformats.org/officeDocument/2006/relationships/notesMaster" Target="/ppt/notesMasters/notesMaster1.xml" Id="R5c64773f306d46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4af526282a4364" /><Relationship Type="http://schemas.openxmlformats.org/officeDocument/2006/relationships/notesMaster" Target="/ppt/notesMasters/notesMaster1.xml" Id="R89dc0478580e41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3ca520ca4a496e" /><Relationship Type="http://schemas.openxmlformats.org/officeDocument/2006/relationships/notesMaster" Target="/ppt/notesMasters/notesMaster1.xml" Id="R1640795ed2b148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dff462154e4047" /><Relationship Type="http://schemas.openxmlformats.org/officeDocument/2006/relationships/notesMaster" Target="/ppt/notesMasters/notesMaster1.xml" Id="R63464cf27f4c46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ee46c3270244d2" /><Relationship Type="http://schemas.openxmlformats.org/officeDocument/2006/relationships/notesMaster" Target="/ppt/notesMasters/notesMaster1.xml" Id="Rda68012b8b754b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8518491e22452c" /><Relationship Type="http://schemas.openxmlformats.org/officeDocument/2006/relationships/notesMaster" Target="/ppt/notesMasters/notesMaster1.xml" Id="R9ede531ffc9548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a48fcb9fe54b75" /><Relationship Type="http://schemas.openxmlformats.org/officeDocument/2006/relationships/notesMaster" Target="/ppt/notesMasters/notesMaster1.xml" Id="R11f3af2099004b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1e702417414b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1f8a9f74134dec" /><Relationship Type="http://schemas.openxmlformats.org/officeDocument/2006/relationships/slideLayout" Target="/ppt/slideLayouts/slideLayout1.xml" Id="Rb43200edcaa741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3200edcaa741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ab6b0d3f740a5" /><Relationship Type="http://schemas.openxmlformats.org/officeDocument/2006/relationships/image" Target="/ppt/media/image.png" Id="Rc8b5391cf001405c" /><Relationship Type="http://schemas.openxmlformats.org/officeDocument/2006/relationships/notesSlide" Target="/ppt/notesSlides/notesSlide1.xml" Id="R70c020673d5049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826a9e799430e" /><Relationship Type="http://schemas.openxmlformats.org/officeDocument/2006/relationships/notesSlide" Target="/ppt/notesSlides/notesSlide2.xml" Id="R7e707b024bf34a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beeae718140b1" /><Relationship Type="http://schemas.openxmlformats.org/officeDocument/2006/relationships/notesSlide" Target="/ppt/notesSlides/notesSlide3.xml" Id="Rcfcc573292954d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8b80212804f71" /><Relationship Type="http://schemas.openxmlformats.org/officeDocument/2006/relationships/notesSlide" Target="/ppt/notesSlides/notesSlide4.xml" Id="R438193056fdb42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c733114e84989" /><Relationship Type="http://schemas.openxmlformats.org/officeDocument/2006/relationships/notesSlide" Target="/ppt/notesSlides/notesSlide5.xml" Id="R3c90ce3993bb4d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e559d5587421a" /><Relationship Type="http://schemas.openxmlformats.org/officeDocument/2006/relationships/notesSlide" Target="/ppt/notesSlides/notesSlide6.xml" Id="R38351e8c798543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b31d7062b423e" /><Relationship Type="http://schemas.openxmlformats.org/officeDocument/2006/relationships/notesSlide" Target="/ppt/notesSlides/notesSlide7.xml" Id="Reea88c4355e940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1739456174fd3" /><Relationship Type="http://schemas.openxmlformats.org/officeDocument/2006/relationships/notesSlide" Target="/ppt/notesSlides/notesSlide8.xml" Id="R2be302497c8c4e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a7202dbe94091" /><Relationship Type="http://schemas.openxmlformats.org/officeDocument/2006/relationships/image" Target="/ppt/media/image2.png" Id="R79d18b9c32f846d2" /><Relationship Type="http://schemas.openxmlformats.org/officeDocument/2006/relationships/notesSlide" Target="/ppt/notesSlides/notesSlide9.xml" Id="R6dc62fb2f1204a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e05f9eb744435" /><Relationship Type="http://schemas.openxmlformats.org/officeDocument/2006/relationships/notesSlide" Target="/ppt/notesSlides/notesSlide10.xml" Id="Rd6abc1c1d29043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5391cf001405c"/>
          <a:srcRect xmlns:a="http://schemas.openxmlformats.org/drawingml/2006/main" l="25891" t="0" r="258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76875" y="0"/>
            <a:ext cx="67151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00F00-CDAD-468D-9CE6-E88F83B1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1238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6151E-E343-4324-AD16-AF3F27C9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7C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B7CFA"/>
                </a:solidFill>
                <a:latin typeface="Arial"/>
                <a:ea typeface="Arial"/>
                <a:cs typeface="Arial"/>
              </a:rPr>
              <a:t>UNILINK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50484-FA31-43ED-967B-75F6DBDC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Connect. Learn.</a:t>
            </a:r>
          </a:p>
          <a:p xmlns:a="http://schemas.openxmlformats.org/drawingml/2006/main">
            <a:pPr algn="l">
              <a:defRPr sz="39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Get Hired.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B6062-5F97-43FD-A4C9-CE58A9A2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4333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A university opportunity network for students, clubs, recruiters, and institutions across Bangladesh.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93749-667E-407C-ACDA-51E69D9A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5BC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5BCA"/>
                </a:solidFill>
                <a:latin typeface="Arial"/>
                <a:ea typeface="Arial"/>
                <a:cs typeface="Arial"/>
              </a:rPr>
              <a:t>Platform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35144-B633-4747-986C-1235BE88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AA8BF"/>
                </a:solidFill>
                <a:latin typeface="Arial"/>
                <a:ea typeface="Arial"/>
                <a:cs typeface="Arial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4604290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A7D6FD-5440-4970-8876-16F44DA0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B9CEE-2DA5-4D36-95B2-969C8D34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UNILINK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AFBC5-B408-4C73-93DF-31AB6FB2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A8B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2866F-1F6B-4286-9004-92A476FA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The gap between campus life and career opportunity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638BA-5731-40D2-BBAD-75B960C6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Students use disconnected tools to study, build proof of skills, and find relevant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B0504-8235-4F01-BC54-0D3D834F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AA8BF"/>
                </a:solidFill>
                <a:latin typeface="Arial"/>
                <a:ea typeface="Arial"/>
                <a:cs typeface="Arial"/>
              </a:rPr>
              <a:t>Campus today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99BA1-0001-41E4-9782-4BC51FB5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241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7C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B7CFA"/>
                </a:solidFill>
                <a:latin typeface="Arial"/>
                <a:ea typeface="Arial"/>
                <a:cs typeface="Arial"/>
              </a:rPr>
              <a:t>UNILINK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B9DA6-2610-4F57-AF53-16E37E4B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241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AA8BF"/>
                </a:solidFill>
                <a:latin typeface="Arial"/>
                <a:ea typeface="Arial"/>
                <a:cs typeface="Arial"/>
              </a:rPr>
              <a:t>Career outcomes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E81F5-5009-461E-A0DD-76705FC4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85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Scattered groups</a:t>
            </a:r>
          </a:p>
          <a:p xmlns:a="http://schemas.openxmlformats.org/drawingml/2006/main">
            <a:pPr algn="l">
              <a:defRPr sz="18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Unverified claims</a:t>
            </a:r>
          </a:p>
          <a:p xmlns:a="http://schemas.openxmlformats.org/drawingml/2006/main">
            <a:pPr algn="l">
              <a:defRPr sz="18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Hidden opportunities</a:t>
            </a:r>
          </a:p>
          <a:p xmlns:a="http://schemas.openxmlformats.org/drawingml/2006/main">
            <a:pPr algn="l">
              <a:defRPr sz="18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Slow coordination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3BFC3-3B75-429D-8C33-E95C8EAF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238500" cy="228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1A30"/>
          </a:solidFill>
          <a:ln xmlns:a="http://schemas.openxmlformats.org/drawingml/2006/main" w="9525">
            <a:solidFill>
              <a:srgbClr val="5B7CF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C6E66-0082-4293-8BC3-C0E4F8F3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33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One trusted network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02C31A-6A9D-4A6F-8F2F-6BE9FE44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0525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Academic identity connects collaboration, verified skills, opportunities, and hiring workflows.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B7B73-723F-49EA-B98F-319B5822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52750"/>
            <a:ext cx="285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Relevant matches</a:t>
            </a:r>
          </a:p>
          <a:p xmlns:a="http://schemas.openxmlformats.org/drawingml/2006/main">
            <a:pPr algn="r">
              <a:defRPr sz="18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Credible profiles</a:t>
            </a:r>
          </a:p>
          <a:p xmlns:a="http://schemas.openxmlformats.org/drawingml/2006/main">
            <a:pPr algn="r">
              <a:defRPr sz="18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Faster hiring</a:t>
            </a:r>
          </a:p>
          <a:p xmlns:a="http://schemas.openxmlformats.org/drawingml/2006/main">
            <a:pPr algn="r">
              <a:defRPr sz="18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Measurable progress</a:t>
            </a:r>
          </a:p>
        </p:txBody>
      </p:sp>
    </p:spTree>
    <p:extLst>
      <p:ext uri="{BB962C8B-B14F-4D97-AF65-F5344CB8AC3E}">
        <p14:creationId xmlns:p14="http://schemas.microsoft.com/office/powerpoint/2010/main" val="4328564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51D2DF-4173-4590-AE44-1AB8F49F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CD052-15CD-4A0B-85C2-9AE867C3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UNILINK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F13E9-898D-4492-A848-57D3E6BD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A8B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CDA37-E60F-4897-BB7F-884B5A84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One platform, four connected roles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64657-19F3-448F-A292-1837DC95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Each role gets a focused workspace while contributing to the same verified network.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4BF64-7857-4213-B7A0-5469434E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552700" cy="314325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111A2C"/>
          </a:solidFill>
          <a:ln xmlns:a="http://schemas.openxmlformats.org/drawingml/2006/main" w="9525">
            <a:solidFill>
              <a:srgbClr val="94A3B8">
                <a:alpha val="1800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49564-1E68-4B00-8349-5FBF8EE2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7C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7CF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1E921-C99B-48B1-BB2B-8BA3115F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Students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ABE33-A461-46BA-8E97-DFFB602C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21717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Find study partners, build a verified profile, join clubs, and apply for opportunities.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43B40-064A-4388-B3C9-789EE194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90750"/>
            <a:ext cx="2552700" cy="314325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111A2C"/>
          </a:solidFill>
          <a:ln xmlns:a="http://schemas.openxmlformats.org/drawingml/2006/main" w="9525">
            <a:solidFill>
              <a:srgbClr val="94A3B8">
                <a:alpha val="1800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DA42C-003D-4489-822D-EE287B65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066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066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7ABC2-1B0A-4895-9D91-1F9352A7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6225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Clubs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74E588-E8C1-4E1B-951A-D57C816F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19450"/>
            <a:ext cx="21717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Manage members, publish events, collect dues, and communicate with the campus.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F290D-85E9-4632-9DE6-A9E568A5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2552700" cy="314325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111A2C"/>
          </a:solidFill>
          <a:ln xmlns:a="http://schemas.openxmlformats.org/drawingml/2006/main" w="9525">
            <a:solidFill>
              <a:srgbClr val="94A3B8">
                <a:alpha val="1800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EBACBE-F1EA-4B47-8ECD-F292239E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BC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BC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09FA4F-6616-4E0A-ABE1-B7D105B5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6225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Recruiters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BB7C9-A84A-410A-B806-BA2A2EAE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9450"/>
            <a:ext cx="21717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Search verified candidates, post opportunities, and contact qualified students.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DC48D3-94DA-423F-85FA-F66C5F10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552700" cy="314325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111A2C"/>
          </a:solidFill>
          <a:ln xmlns:a="http://schemas.openxmlformats.org/drawingml/2006/main" w="9525">
            <a:solidFill>
              <a:srgbClr val="94A3B8">
                <a:alpha val="18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64F57-DB85-41C2-ABDB-5DF37F83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7A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676B8A-22F7-4902-8B29-2917ACF1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6225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Universities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BE4945-722D-4D38-A113-959CC9D2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19450"/>
            <a:ext cx="21717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Manage partnerships, review outcomes, and support students who need attention.</a:t>
            </a:r>
          </a:p>
        </p:txBody>
      </p:sp>
    </p:spTree>
    <p:extLst>
      <p:ext uri="{BB962C8B-B14F-4D97-AF65-F5344CB8AC3E}">
        <p14:creationId xmlns:p14="http://schemas.microsoft.com/office/powerpoint/2010/main" val="19088477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54BA32-0768-4D14-ACE5-2606E4FA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A29FB-7162-4D0A-ACB0-4A432E88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UNILINK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C7F4F-F019-476B-BD43-67A6E4D0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A8B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65339-2528-4993-BEA2-62607F03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Study Partner matching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0A189-525A-4EFD-8655-55D4DACC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Students discover peers by course, skill, university, and study preference.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7B382-22AD-4963-915A-90059ADB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481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Better matches start with useful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B7176-2334-43F5-8275-5729E14A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4524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Profiles show the subjects a student can teach, the help they need, availability, and preferred session format.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9B2A8-CA90-41A4-A618-76A58ABB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47625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9525">
            <a:solidFill>
              <a:srgbClr val="8066F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E081C-1CF0-42F9-AD5F-F15527BA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066F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066F4"/>
                </a:solidFill>
                <a:latin typeface="Arial"/>
                <a:ea typeface="Arial"/>
                <a:cs typeface="Arial"/>
              </a:rPr>
              <a:t>MATCH 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C94BA-DB77-492A-A776-11DEB089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Course overlap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FA1D9-D1C9-498C-957B-3A7B3059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Availability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86817-C4AF-4B47-BA4B-8EE208DD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Study format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D315B-5A21-404E-A783-8AE9D523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958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Verified university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0DC0A1-8618-4AFA-BBD6-B52071C6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7C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B7CFA"/>
                </a:solidFill>
                <a:latin typeface="Arial"/>
                <a:ea typeface="Arial"/>
                <a:cs typeface="Arial"/>
              </a:rPr>
              <a:t>Students can move from discovery to a scheduled session without leaving the platform.</a:t>
            </a:r>
          </a:p>
        </p:txBody>
      </p:sp>
    </p:spTree>
    <p:extLst>
      <p:ext uri="{BB962C8B-B14F-4D97-AF65-F5344CB8AC3E}">
        <p14:creationId xmlns:p14="http://schemas.microsoft.com/office/powerpoint/2010/main" val="16529933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CA047E-5871-406A-BDB9-2DAA96A4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A373A-609D-4212-AA61-9FA0ED36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UNILINK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2AA46-860F-4992-A065-94C85F6F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A8B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04214-9FF6-45E8-9103-4D1B076D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Campus feed, notices, and events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AAA5B-1597-4083-BA21-6FC817F4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A single English language feed keeps university life organized and easy to scan.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57AC9-38A3-418C-A1E6-0F2BC455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33375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111A2C"/>
          </a:solidFill>
          <a:ln xmlns:a="http://schemas.openxmlformats.org/drawingml/2006/main" w="9525">
            <a:solidFill>
              <a:srgbClr val="94A3B8">
                <a:alpha val="1800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58C8C-3B63-4DEC-99F7-1575ABA8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7C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7CF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2F833-C78F-4CAE-A2E5-F9EA89DA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Notices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37CD26-6D0C-4205-8F2F-92E835C9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29527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University and club announcements appear in one structured feed with clear categories.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CA619-A3E6-4321-BCF7-2A4D9562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33375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111A2C"/>
          </a:solidFill>
          <a:ln xmlns:a="http://schemas.openxmlformats.org/drawingml/2006/main" w="9525">
            <a:solidFill>
              <a:srgbClr val="94A3B8">
                <a:alpha val="1800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59B4B-0E24-49F3-B175-A2F3C7BB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BC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BC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339720-C946-45F4-8029-BAADEFB8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62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Events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80DC9-D2FB-4018-A30D-A356B74C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19450"/>
            <a:ext cx="29527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Students can discover academic, club, and recruiting events by date and organizer.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32414-54A4-4EAD-AD82-4EC33BE7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33375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111A2C"/>
          </a:solidFill>
          <a:ln xmlns:a="http://schemas.openxmlformats.org/drawingml/2006/main" w="9525">
            <a:solidFill>
              <a:srgbClr val="94A3B8">
                <a:alpha val="1800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DAF6B-DDB3-4CC9-8E34-5740947B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7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C29481-71DA-4562-97AD-5F54145C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62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Notes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208633-54D0-4C37-811A-39F348E5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19450"/>
            <a:ext cx="29527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Shared learning resources stay attached to courses, groups, and study activity.</a:t>
            </a:r>
          </a:p>
        </p:txBody>
      </p:sp>
    </p:spTree>
    <p:extLst>
      <p:ext uri="{BB962C8B-B14F-4D97-AF65-F5344CB8AC3E}">
        <p14:creationId xmlns:p14="http://schemas.microsoft.com/office/powerpoint/2010/main" val="276518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257D7-241D-48A7-94F4-944AFB48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49FFA-1210-46AC-B90B-99DDE55F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UNILINK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C4EC3-37D4-4A7E-99EC-8F034F66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A8B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E6491-2607-40A7-A4FB-55D8551A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Verified profiles and SkillCheck badges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36632-1410-4B56-A8AC-85C31D21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Academic identity and assessed skills give recruiters stronger evidence than a résumé alone.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454A6-D356-4DCE-815B-BE86297A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A profile combines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002E5-A777-49ED-A5D1-E9B6134B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Academic email verification</a:t>
            </a:r>
          </a:p>
          <a:p xmlns:a="http://schemas.openxmlformats.org/drawingml/2006/main">
            <a:pPr algn="l">
              <a:defRPr sz="16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University and department</a:t>
            </a:r>
          </a:p>
          <a:p xmlns:a="http://schemas.openxmlformats.org/drawingml/2006/main">
            <a:pPr algn="l">
              <a:defRPr sz="16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Course and club participation</a:t>
            </a:r>
          </a:p>
          <a:p xmlns:a="http://schemas.openxmlformats.org/drawingml/2006/main">
            <a:pPr algn="l">
              <a:defRPr sz="16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SkillCheck results</a:t>
            </a:r>
          </a:p>
          <a:p xmlns:a="http://schemas.openxmlformats.org/drawingml/2006/main">
            <a:pPr algn="l">
              <a:defRPr sz="16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Project and internship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CE1EC-7864-4A93-B4B5-8902CC9D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52650"/>
            <a:ext cx="5143500" cy="3181350"/>
          </a:xfrm>
          <a:prstGeom xmlns:a="http://schemas.openxmlformats.org/drawingml/2006/main" prst="roundRect">
            <a:avLst>
              <a:gd name="adj" fmla="val 7784"/>
            </a:avLst>
          </a:prstGeom>
          <a:solidFill xmlns:a="http://schemas.openxmlformats.org/drawingml/2006/main">
            <a:srgbClr val="101A30"/>
          </a:solidFill>
          <a:ln xmlns:a="http://schemas.openxmlformats.org/drawingml/2006/main" w="9525">
            <a:solidFill>
              <a:srgbClr val="5B7CF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3EAEC-7E4F-4581-947A-BBF8F473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95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C7A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C7A5"/>
                </a:solidFill>
                <a:latin typeface="Arial"/>
                <a:ea typeface="Arial"/>
                <a:cs typeface="Arial"/>
              </a:rPr>
              <a:t>VERIFIED STUDENT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05597-5ABB-4378-9FF2-371499AF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718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Arif Jahan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985E6-5E6F-4AFE-899D-AF14C050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48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Computer Science · BUET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7F093-7B2E-4EE1-956B-17F1C98E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719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B7C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7CFA"/>
                </a:solidFill>
                <a:latin typeface="Arial"/>
                <a:ea typeface="Arial"/>
                <a:cs typeface="Arial"/>
              </a:rPr>
              <a:t>3 verified skill badges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5AB9C-94D2-4FBF-ABD0-520FF7A4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863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Profile evidence supports faster shortlisting.</a:t>
            </a:r>
          </a:p>
        </p:txBody>
      </p:sp>
    </p:spTree>
    <p:extLst>
      <p:ext uri="{BB962C8B-B14F-4D97-AF65-F5344CB8AC3E}">
        <p14:creationId xmlns:p14="http://schemas.microsoft.com/office/powerpoint/2010/main" val="4714849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14546-19A6-4EBB-ABAF-7E2D3266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CF0BF-804F-4C00-90B0-2EE4B3AC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UNILINK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42DA2-69F8-4BC1-B659-EC614B19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A8B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7216E-5A42-4AD6-B334-36284FF8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Live Bid opportunity marketplace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70CDC-F622-4D44-88C8-0A3EC9E1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Students compete for internships, project work, hackathon bounties, and exclusive recruiter access.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1C323-6AD1-452F-8134-37E2EFF6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Opportunity types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7CED9-4A3A-4641-AABE-98958EC1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3905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Internships</a:t>
            </a:r>
          </a:p>
          <a:p xmlns:a="http://schemas.openxmlformats.org/drawingml/2006/main">
            <a:pPr algn="l">
              <a:defRPr sz="18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Hackathon bounties</a:t>
            </a:r>
          </a:p>
          <a:p xmlns:a="http://schemas.openxmlformats.org/drawingml/2006/main">
            <a:pPr algn="l">
              <a:defRPr sz="18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Project work</a:t>
            </a:r>
          </a:p>
          <a:p xmlns:a="http://schemas.openxmlformats.org/drawingml/2006/main">
            <a:pPr algn="l">
              <a:defRPr sz="18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Exclusive candidate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CE2FD-1757-46B2-99BE-0AC1C7A7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5715000" cy="2781300"/>
          </a:xfrm>
          <a:prstGeom xmlns:a="http://schemas.openxmlformats.org/drawingml/2006/main" prst="roundRect">
            <a:avLst>
              <a:gd name="adj" fmla="val 7534"/>
            </a:avLst>
          </a:prstGeom>
          <a:solidFill xmlns:a="http://schemas.openxmlformats.org/drawingml/2006/main">
            <a:srgbClr val="111A2C"/>
          </a:solidFill>
          <a:ln xmlns:a="http://schemas.openxmlformats.org/drawingml/2006/main" w="9525">
            <a:solidFill>
              <a:srgbClr val="D95BC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90572-247D-4094-96B5-332BF779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5BC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5BCA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6F0C0-B37B-44A2-9E5A-6870D276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Recruiters publish a clear brief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860536-663E-498A-B896-BB33FF44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62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Eligible students submit verified bids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E57FE-EC5D-4E77-8C7F-32DF960B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Teams shortlist and communicate in one place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8D0C6-85BC-4866-A50B-2A19C39A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7C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B7CFA"/>
                </a:solidFill>
                <a:latin typeface="Arial"/>
                <a:ea typeface="Arial"/>
                <a:cs typeface="Arial"/>
              </a:rPr>
              <a:t>The result: opportunity discovery and candidate evaluation share the same workflow.</a:t>
            </a:r>
          </a:p>
        </p:txBody>
      </p:sp>
    </p:spTree>
    <p:extLst>
      <p:ext uri="{BB962C8B-B14F-4D97-AF65-F5344CB8AC3E}">
        <p14:creationId xmlns:p14="http://schemas.microsoft.com/office/powerpoint/2010/main" val="9739725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B676DD-8348-4210-B2BF-24437743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BE10C-A433-443D-A45C-5569FFA7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UNILINK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E269B-E644-4D16-8E5D-CDC00BCF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A8B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82CD2-665E-4917-A293-4F79CEBC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Recruiter search and hiring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959D0-A029-43A9-8F3B-E74C75B9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Recruiters filter candidates by verified education, skills, CGPA, and availability.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D5350-E63E-4286-8B77-29B3F7AE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3337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A2C"/>
          </a:solidFill>
          <a:ln xmlns:a="http://schemas.openxmlformats.org/drawingml/2006/main" w="9525">
            <a:solidFill>
              <a:srgbClr val="94A3B8">
                <a:alpha val="1800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F3A65-4A4A-4AB2-9488-4CBE8903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7C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7CF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F9E56-86DD-4242-979A-8C39262B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A03D7-FB25-40E2-A83C-2640D715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2952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Find candidates with useful filters instead of reading unstructured applications.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FEC6D-E2CC-456A-8034-D6D71713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3337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A2C"/>
          </a:solidFill>
          <a:ln xmlns:a="http://schemas.openxmlformats.org/drawingml/2006/main" w="9525">
            <a:solidFill>
              <a:srgbClr val="94A3B8">
                <a:alpha val="1800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894D8F-E2E1-4360-AC30-BD35D06D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066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066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FF052-E716-4181-83B8-1B5B93BE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62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BDFBB-A96D-4F71-BF91-A66C35C6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19450"/>
            <a:ext cx="2952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Review badges, academic context, and engagement signals in one profile.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E2512-BCC9-4A6D-AAE6-DBA3DC6D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3337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A2C"/>
          </a:solidFill>
          <a:ln xmlns:a="http://schemas.openxmlformats.org/drawingml/2006/main" w="9525">
            <a:solidFill>
              <a:srgbClr val="94A3B8">
                <a:alpha val="1800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093ED-F6D1-4F6C-9347-7426828A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BC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BC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CEF25-0C88-4779-9C22-12E0D966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62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1DBC65-6133-4C84-8A2D-08CFB8A0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19450"/>
            <a:ext cx="2952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Save candidates, start conversations, and invite the strongest matches.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BE80A0-DBD9-4966-816E-0033301B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Verified data helps teams spend more time on strong candidates and less time checking claims.</a:t>
            </a:r>
          </a:p>
        </p:txBody>
      </p:sp>
    </p:spTree>
    <p:extLst>
      <p:ext uri="{BB962C8B-B14F-4D97-AF65-F5344CB8AC3E}">
        <p14:creationId xmlns:p14="http://schemas.microsoft.com/office/powerpoint/2010/main" val="10087672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F86C80-24B8-4561-BD5D-FFB029FC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2B144-3C02-4F54-BAF6-2961CE6A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UNILINK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EC007-07B1-4E9D-8C69-CFD934C4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A8B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17C68-341E-46EB-A98E-F7E48615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Administration and campus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52595-1D17-4F5F-9E8F-EC65CA06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The admin dashboard brings partnerships, platform health, student support, and reporting into one view.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18b9c32f846d2"/>
          <a:srcRect xmlns:a="http://schemas.openxmlformats.org/drawingml/2006/main" l="23958" t="0" r="239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81600" y="2019300"/>
            <a:ext cx="6191250" cy="3619500"/>
          </a:xfrm>
          <a:prstGeom xmlns:a="http://schemas.openxmlformats.org/drawingml/2006/main" prst="roundRect">
            <a:avLst>
              <a:gd name="adj" fmla="val 473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EFBD1-B5B2-4FDE-AA9B-1A214093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B7C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5B7CFA"/>
                </a:solidFill>
                <a:latin typeface="Arial"/>
                <a:ea typeface="Arial"/>
                <a:cs typeface="Arial"/>
              </a:rPr>
              <a:t>18,432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18428-51FB-4D51-8C13-31AF3D87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verified student accounts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F09C8-8439-40AD-A32B-3EEA8FBB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8066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8066F4"/>
                </a:solidFill>
                <a:latin typeface="Arial"/>
                <a:ea typeface="Arial"/>
                <a:cs typeface="Arial"/>
              </a:rPr>
              <a:t>83%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7E787-D244-467D-AFEF-611D7904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graduate placement 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FBB07-EE79-4C0E-BA7E-F9D8C409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D95BC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D95BCA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9040D-C302-46DF-BF29-CECD455C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students requiring support</a:t>
            </a:r>
          </a:p>
        </p:txBody>
      </p:sp>
    </p:spTree>
    <p:extLst>
      <p:ext uri="{BB962C8B-B14F-4D97-AF65-F5344CB8AC3E}">
        <p14:creationId xmlns:p14="http://schemas.microsoft.com/office/powerpoint/2010/main" val="2868344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38B92-342E-496D-B524-E7C6ABF2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B41EE-7E9F-42F6-9824-C32804ED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UNILINK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8A24C-86F2-472F-924F-E96E1448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A8B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A5CDF-FDD2-4AFA-980D-9AF4C5A4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A complete platform foundation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C9010-CFED-41D0-9DAA-D7D9FAD2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F"/>
                </a:solidFill>
                <a:latin typeface="Arial"/>
                <a:ea typeface="Arial"/>
                <a:cs typeface="Arial"/>
              </a:rPr>
              <a:t>UNILINK combines a consistent interface with a Node.js backend and role based access.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3AC97-220A-42CF-9573-052F7F00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7C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B7CFA"/>
                </a:solidFill>
                <a:latin typeface="Arial"/>
                <a:ea typeface="Arial"/>
                <a:cs typeface="Arial"/>
              </a:rPr>
              <a:t>Student 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D15AD-1433-4249-BDBD-9C52CE70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F"/>
                </a:solidFill>
                <a:latin typeface="Arial"/>
                <a:ea typeface="Arial"/>
                <a:cs typeface="Arial"/>
              </a:rPr>
              <a:t>Study matching</a:t>
            </a:r>
          </a:p>
          <a:p xmlns:a="http://schemas.openxmlformats.org/drawingml/2006/main">
            <a:pPr algn="l">
              <a:defRPr sz="1575" b="0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F"/>
                </a:solidFill>
                <a:latin typeface="Arial"/>
                <a:ea typeface="Arial"/>
                <a:cs typeface="Arial"/>
              </a:rPr>
              <a:t>Campus feed</a:t>
            </a:r>
          </a:p>
          <a:p xmlns:a="http://schemas.openxmlformats.org/drawingml/2006/main">
            <a:pPr algn="l">
              <a:defRPr sz="1575" b="0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F"/>
                </a:solidFill>
                <a:latin typeface="Arial"/>
                <a:ea typeface="Arial"/>
                <a:cs typeface="Arial"/>
              </a:rPr>
              <a:t>Events and notes</a:t>
            </a:r>
          </a:p>
          <a:p xmlns:a="http://schemas.openxmlformats.org/drawingml/2006/main">
            <a:pPr algn="l">
              <a:defRPr sz="1575" b="0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F"/>
                </a:solidFill>
                <a:latin typeface="Arial"/>
                <a:ea typeface="Arial"/>
                <a:cs typeface="Arial"/>
              </a:rPr>
              <a:t>Verified badges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AE1A4-31BF-49DA-BD0E-FF4583D9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066F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066F4"/>
                </a:solidFill>
                <a:latin typeface="Arial"/>
                <a:ea typeface="Arial"/>
                <a:cs typeface="Arial"/>
              </a:rPr>
              <a:t>Career marketplace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BF0FB-723C-4334-BA26-A05CAF98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F"/>
                </a:solidFill>
                <a:latin typeface="Arial"/>
                <a:ea typeface="Arial"/>
                <a:cs typeface="Arial"/>
              </a:rPr>
              <a:t>Live opportunities</a:t>
            </a:r>
          </a:p>
          <a:p xmlns:a="http://schemas.openxmlformats.org/drawingml/2006/main">
            <a:pPr algn="l">
              <a:defRPr sz="1575" b="0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F"/>
                </a:solidFill>
                <a:latin typeface="Arial"/>
                <a:ea typeface="Arial"/>
                <a:cs typeface="Arial"/>
              </a:rPr>
              <a:t>Candidate search</a:t>
            </a:r>
          </a:p>
          <a:p xmlns:a="http://schemas.openxmlformats.org/drawingml/2006/main">
            <a:pPr algn="l">
              <a:defRPr sz="1575" b="0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F"/>
                </a:solidFill>
                <a:latin typeface="Arial"/>
                <a:ea typeface="Arial"/>
                <a:cs typeface="Arial"/>
              </a:rPr>
              <a:t>Recruiter contact</a:t>
            </a:r>
          </a:p>
          <a:p xmlns:a="http://schemas.openxmlformats.org/drawingml/2006/main">
            <a:pPr algn="l">
              <a:defRPr sz="1575" b="0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F"/>
                </a:solidFill>
                <a:latin typeface="Arial"/>
                <a:ea typeface="Arial"/>
                <a:cs typeface="Arial"/>
              </a:rPr>
              <a:t>Hiring activity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614D7-11F2-4584-97B1-0EEC0D02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5BC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5BCA"/>
                </a:solidFill>
                <a:latin typeface="Arial"/>
                <a:ea typeface="Arial"/>
                <a:cs typeface="Arial"/>
              </a:rPr>
              <a:t>Administration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95D04-89DF-4840-B7BE-AD19242A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F"/>
                </a:solidFill>
                <a:latin typeface="Arial"/>
                <a:ea typeface="Arial"/>
                <a:cs typeface="Arial"/>
              </a:rPr>
              <a:t>Partnerships</a:t>
            </a:r>
          </a:p>
          <a:p xmlns:a="http://schemas.openxmlformats.org/drawingml/2006/main">
            <a:pPr algn="l">
              <a:defRPr sz="1575" b="0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F"/>
                </a:solidFill>
                <a:latin typeface="Arial"/>
                <a:ea typeface="Arial"/>
                <a:cs typeface="Arial"/>
              </a:rPr>
              <a:t>Announcements</a:t>
            </a:r>
          </a:p>
          <a:p xmlns:a="http://schemas.openxmlformats.org/drawingml/2006/main">
            <a:pPr algn="l">
              <a:defRPr sz="1575" b="0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F"/>
                </a:solidFill>
                <a:latin typeface="Arial"/>
                <a:ea typeface="Arial"/>
                <a:cs typeface="Arial"/>
              </a:rPr>
              <a:t>Analytics and reports</a:t>
            </a:r>
          </a:p>
          <a:p xmlns:a="http://schemas.openxmlformats.org/drawingml/2006/main">
            <a:pPr algn="l">
              <a:defRPr sz="1575" b="0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F"/>
                </a:solidFill>
                <a:latin typeface="Arial"/>
                <a:ea typeface="Arial"/>
                <a:cs typeface="Arial"/>
              </a:rPr>
              <a:t>Student support alerts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ACB29-C959-42D1-9122-98AA2080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3F6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3F6FF"/>
                </a:solidFill>
                <a:latin typeface="Arial"/>
                <a:ea typeface="Arial"/>
                <a:cs typeface="Arial"/>
              </a:rPr>
              <a:t>Connect. Learn. Get Hired.</a:t>
            </a:r>
          </a:p>
        </p:txBody>
      </p:sp>
    </p:spTree>
    <p:extLst>
      <p:ext uri="{BB962C8B-B14F-4D97-AF65-F5344CB8AC3E}">
        <p14:creationId xmlns:p14="http://schemas.microsoft.com/office/powerpoint/2010/main" val="8638979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2026-09-07T22:20:25.9630000Z</dcterms:created>
  <dcterms:modified xsi:type="dcterms:W3CDTF">2026-09-07T22:20:25.9640000Z</dcterms:modified>
</coreProperties>
</file>